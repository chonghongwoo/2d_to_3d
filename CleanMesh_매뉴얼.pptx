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🛠 CleanMesh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F8CFF"/>
                </a:solidFill>
                <a:latin typeface="맑은 고딕"/>
              </a:rPr>
              <a:t>이미지·텍스트 → 디지털 트윈 3D 자동화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0"/>
            <a:ext cx="3657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0A6"/>
                </a:solidFill>
                <a:latin typeface="맑은 고딕"/>
              </a:rPr>
              <a:t>v1.2 · 디지털 트윈 자산 제작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맑은 고딕"/>
              </a:rPr>
              <a:t>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1. 시스템 한눈에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디지털 트윈 자산을 사진 한 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F8CFF"/>
                </a:solidFill>
                <a:latin typeface="맑은 고딕"/>
              </a:rPr>
              <a:t>①  </a:t>
            </a:r>
            <a:r>
              <a:rPr sz="1600">
                <a:solidFill>
                  <a:srgbClr val="E8EAED"/>
                </a:solidFill>
                <a:latin typeface="맑은 고딕"/>
              </a:rPr>
              <a:t>현장 설비(AGV·팔레트·드럼 등) 사진 1장 촬영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②  </a:t>
            </a:r>
            <a:r>
              <a:rPr sz="1600">
                <a:solidFill>
                  <a:srgbClr val="E8EAED"/>
                </a:solidFill>
                <a:latin typeface="맑은 고딕"/>
              </a:rPr>
              <a:t>마우스로 주체를 클릭 (SAM2가 정밀 마스크)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③  </a:t>
            </a:r>
            <a:r>
              <a:rPr sz="1600">
                <a:solidFill>
                  <a:srgbClr val="E8EAED"/>
                </a:solidFill>
                <a:latin typeface="맑은 고딕"/>
              </a:rPr>
              <a:t>AI (TRELLIS) 가 정점 색상 포함 3D 메시 생성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④  </a:t>
            </a:r>
            <a:r>
              <a:rPr sz="1600">
                <a:solidFill>
                  <a:srgbClr val="E8EAED"/>
                </a:solidFill>
                <a:latin typeface="맑은 고딕"/>
              </a:rPr>
              <a:t>Blender 자동 정리 + 표면 외관 그대로 보존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⑤  </a:t>
            </a:r>
            <a:r>
              <a:rPr sz="1600">
                <a:solidFill>
                  <a:srgbClr val="E8EAED"/>
                </a:solidFill>
                <a:latin typeface="맑은 고딕"/>
              </a:rPr>
              <a:t>메타데이터(치수·제조사·시리얼) 자동 임베드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⑥  </a:t>
            </a:r>
            <a:r>
              <a:rPr sz="1600">
                <a:solidFill>
                  <a:srgbClr val="E8EAED"/>
                </a:solidFill>
                <a:latin typeface="맑은 고딕"/>
              </a:rPr>
              <a:t>USD / GLB로 익스포트 → Omniverse / Twinmotion / BIM 협업툴로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2/21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2. 4가지 생성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입력에 따라 자동 선택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소요시간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Procedural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텍스트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1~3초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정밀 산업 모델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TripoSR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이미지 1장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3~6초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빠른 프리뷰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TRELLIS Single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이미지 1장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~60초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고품질, vertex color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TRELLIS Multi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이미지 2~3장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~2분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부분 360° (8GB GPU 한계)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C759"/>
                </a:solidFill>
                <a:latin typeface="맑은 고딕"/>
              </a:rPr>
              <a:t>※ SAM2 클릭 세그멘트를 켜면 모든 경로에서 배경 ghost geometry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3/21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3.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sz="1000">
                <a:solidFill>
                  <a:srgbClr val="B4C8FF"/>
                </a:solidFill>
                <a:latin typeface="Consolas"/>
              </a:rPr>
              <a:t>   Browser  (HTTP)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│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▼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┌─────────────────────────────────────────────────┐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│   CleanMesh API  (FastAPI, port 8100)           │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│   • /api/generate*           작업 큐             │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│   • /api/segment*            SAM2 클릭           │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│   • /api/import-to-blender   MCP 푸시            │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└─────────────────────────────────────────────────┘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│           │           │           │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▼           ▼           ▼           ▼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Procedural   TripoSR    TRELLIS (WSL)   SAM2 (WSL)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                                   hiera_large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│           │           │           │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▼           ▼           ▼           ▼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       raw GLB → cleanup → color → render → export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                                              │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                                              ▼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                                Blender 5.1 (MCP port 9876)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4/21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4. 하드웨어 요구사항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부품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최소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권장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GPU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NVIDIA 8 GB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16 GB+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8GB는 단일 위주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RAM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16 GB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32 GB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WSL2 동적 할당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디스크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60 GB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150 GB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모델 weights 17 GB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CPU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4 core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8 core+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Blender 헤드리스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검증 환경: RTX 3070 8 GB + 16 GB RAM + WSL2 Ubuntu 22.04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5/21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5. 1분 사용법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더블클릭 한 번이면 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F8CFF"/>
                </a:solidFill>
                <a:latin typeface="맑은 고딕"/>
              </a:rPr>
              <a:t>1.  </a:t>
            </a:r>
            <a:r>
              <a:rPr sz="1600">
                <a:solidFill>
                  <a:srgbClr val="E8EAED"/>
                </a:solidFill>
                <a:latin typeface="맑은 고딕"/>
              </a:rPr>
              <a:t>바탕화면 "CleanMesh Studio" 더블클릭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2.  </a:t>
            </a:r>
            <a:r>
              <a:rPr sz="1600">
                <a:solidFill>
                  <a:srgbClr val="E8EAED"/>
                </a:solidFill>
                <a:latin typeface="맑은 고딕"/>
              </a:rPr>
              <a:t>브라우저 자동 오픈 → http://localhost:8100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3.  </a:t>
            </a:r>
            <a:r>
              <a:rPr sz="1600">
                <a:solidFill>
                  <a:srgbClr val="E8EAED"/>
                </a:solidFill>
                <a:latin typeface="맑은 고딕"/>
              </a:rPr>
              <a:t>이미지 끌어다 놓기 (1장 권장)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4.  </a:t>
            </a:r>
            <a:r>
              <a:rPr sz="1600">
                <a:solidFill>
                  <a:srgbClr val="E8EAED"/>
                </a:solidFill>
                <a:latin typeface="맑은 고딕"/>
              </a:rPr>
              <a:t>🎯 SAM2 체크 → 주체 클릭 → ✓ 마스크 생성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5.  </a:t>
            </a:r>
            <a:r>
              <a:rPr sz="1600">
                <a:solidFill>
                  <a:srgbClr val="E8EAED"/>
                </a:solidFill>
                <a:latin typeface="맑은 고딕"/>
              </a:rPr>
              <a:t>색상 옵션 선택 (정점 / 영역 분해)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6.  </a:t>
            </a:r>
            <a:r>
              <a:rPr sz="1600">
                <a:solidFill>
                  <a:srgbClr val="E8EAED"/>
                </a:solidFill>
                <a:latin typeface="맑은 고딕"/>
              </a:rPr>
              <a:t>▶ Generate → 60~70초 대기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7.  </a:t>
            </a:r>
            <a:r>
              <a:rPr sz="1600">
                <a:solidFill>
                  <a:srgbClr val="E8EAED"/>
                </a:solidFill>
                <a:latin typeface="맑은 고딕"/>
              </a:rPr>
              <a:t>Blender 켜기 → 🎨 Blender로 보내기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6/21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6. SAM2 클릭 세그멘트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배경 ghost geometry 완전 제거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F8CFF"/>
                </a:solidFill>
                <a:latin typeface="맑은 고딕"/>
              </a:rPr>
              <a:t>✓  </a:t>
            </a:r>
            <a:r>
              <a:rPr sz="1600">
                <a:solidFill>
                  <a:srgbClr val="E8EAED"/>
                </a:solidFill>
                <a:latin typeface="맑은 고딕"/>
              </a:rPr>
              <a:t>옵션의 "🎯 클릭으로 주체만 추출 (SAM2)" 체크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✓  </a:t>
            </a:r>
            <a:r>
              <a:rPr sz="1600">
                <a:solidFill>
                  <a:srgbClr val="E8EAED"/>
                </a:solidFill>
                <a:latin typeface="맑은 고딕"/>
              </a:rPr>
              <a:t>주체 위에 좌클릭 (녹색 점)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✓  </a:t>
            </a:r>
            <a:r>
              <a:rPr sz="1600">
                <a:solidFill>
                  <a:srgbClr val="E8EAED"/>
                </a:solidFill>
                <a:latin typeface="맑은 고딕"/>
              </a:rPr>
              <a:t>배경 잡히면 Shift+클릭 (빨강 점)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✓  </a:t>
            </a:r>
            <a:r>
              <a:rPr sz="1600">
                <a:solidFill>
                  <a:srgbClr val="E8EAED"/>
                </a:solidFill>
                <a:latin typeface="맑은 고딕"/>
              </a:rPr>
              <a:t>✓ 마스크 생성 → 1~2초 후 컷아웃 미리보기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✓  </a:t>
            </a:r>
            <a:r>
              <a:rPr sz="1600">
                <a:solidFill>
                  <a:srgbClr val="E8EAED"/>
                </a:solidFill>
                <a:latin typeface="맑은 고딕"/>
              </a:rPr>
              <a:t>여러 이미지면 탭으로 다른 이미지 선택 후 반복</a:t>
            </a:r>
          </a:p>
          <a:p>
            <a:r>
              <a:rPr sz="1600" b="1">
                <a:solidFill>
                  <a:srgbClr val="4F8CFF"/>
                </a:solidFill>
                <a:latin typeface="맑은 고딕"/>
              </a:rPr>
              <a:t>✓  </a:t>
            </a:r>
            <a:r>
              <a:rPr sz="1600">
                <a:solidFill>
                  <a:srgbClr val="E8EAED"/>
                </a:solidFill>
                <a:latin typeface="맑은 고딕"/>
              </a:rPr>
              <a:t>▶ Generate → ghost geometry 0의 깨끗한 메시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C759"/>
                </a:solidFill>
                <a:latin typeface="맑은 고딕"/>
              </a:rPr>
              <a:t>→ 단일 이미지 + SAM2 한 번이면 공장 바닥/벽 100%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7/21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7. 색상 처리 — DT는 vertex 모드 권장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모드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디지털 트윈 적합도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정점 색상 (vertex)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실제 표면 그라데이션 그대로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⭐⭐⭐ 권장 — 산화·녹·라벨 보존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영역별 분해 (region_split)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K개 sub-mesh, 평평한 단색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단색 LOD · 모듈화 용 (DT 비권장)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8CFF"/>
                </a:solidFill>
                <a:latin typeface="맑은 고딕"/>
              </a:rPr>
              <a:t>→  </a:t>
            </a:r>
            <a:r>
              <a:rPr sz="1400">
                <a:solidFill>
                  <a:srgbClr val="E8EAED"/>
                </a:solidFill>
                <a:latin typeface="맑은 고딕"/>
              </a:rPr>
              <a:t>DT에서는 자산 진단·식별을 위해 실제 외관 보존이 중요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→  </a:t>
            </a:r>
            <a:r>
              <a:rPr sz="1400">
                <a:solidFill>
                  <a:srgbClr val="E8EAED"/>
                </a:solidFill>
                <a:latin typeface="맑은 고딕"/>
              </a:rPr>
              <a:t>잡티 제거 강도: 약 또는 끄기 권장 (디테일 우선)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→  </a:t>
            </a:r>
            <a:r>
              <a:rPr sz="1400">
                <a:solidFill>
                  <a:srgbClr val="E8EAED"/>
                </a:solidFill>
                <a:latin typeface="맑은 고딕"/>
              </a:rPr>
              <a:t>vertex color는 GLB·USD 모두에서 자동 PBR 변환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8/21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8. 잡티 제거 강도 (v1.2)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Laplacian smoothing + 라벨 정리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강도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정점 smooth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라벨 smooth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min region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효과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강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7회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4회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200면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잡티 최대 제거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중 (기본)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5회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3회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100면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권장 — 잡티/디테일 균형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약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2회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1회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30면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디테일 보존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끄기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원본 그대로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vertex 모드 = smoothing만 / region_split = smoothing + K-means + 패치 흡수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9/21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9. 처리량 벤치마크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RTX 3070 8 GB · 깨끗한 GPU 상태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78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총 시간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출력 크기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Procedural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텍스트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1~3초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0.3 MB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TripoSR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이미지 1장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3~6초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~5 MB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TRELLIS Single + SAM2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이미지 1장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60~70초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~18 MB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TRELLIS Multi (2~3장)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이미지 2~3장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~2분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~19 MB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+ Color split (K=3)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+K-means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+15초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~15 MB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+ Vertex smoothing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+Laplacian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+8초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변동 없음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10/21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10. 출력 파일 위치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종류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포맷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원본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C:\t3d\raw\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GLB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정리됨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C:\t3d\cleaned\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GLB (_split / _smooth 변종)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6방향 렌더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C:\t3d\renders\…\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PNG + contact_sheet.png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엔진별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C:\t3d\exports\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GLB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SAM2 세션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C:\t3d\raw\segment_sessions\{id}\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PNG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로그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C:\t3d\logs\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*.log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11/21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11. ⚠ GPU 메모리 운영 수칙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8 GB GPU에서 OOM 안 나려면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500"/>
                </a:solidFill>
                <a:latin typeface="맑은 고딕"/>
              </a:rPr>
              <a:t>잡 시작 전에 반드시 닫아야 하는 앱들: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8CFF"/>
                </a:solidFill>
                <a:latin typeface="맑은 고딕"/>
              </a:rPr>
              <a:t>❌  </a:t>
            </a:r>
            <a:r>
              <a:rPr sz="1400">
                <a:solidFill>
                  <a:srgbClr val="E8EAED"/>
                </a:solidFill>
                <a:latin typeface="맑은 고딕"/>
              </a:rPr>
              <a:t>Blender (잡 끝나고 켜기)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❌  </a:t>
            </a:r>
            <a:r>
              <a:rPr sz="1400">
                <a:solidFill>
                  <a:srgbClr val="E8EAED"/>
                </a:solidFill>
                <a:latin typeface="맑은 고딕"/>
              </a:rPr>
              <a:t>OBS Studio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❌  </a:t>
            </a:r>
            <a:r>
              <a:rPr sz="1400">
                <a:solidFill>
                  <a:srgbClr val="E8EAED"/>
                </a:solidFill>
                <a:latin typeface="맑은 고딕"/>
              </a:rPr>
              <a:t>Microsoft Teams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❌  </a:t>
            </a:r>
            <a:r>
              <a:rPr sz="1400">
                <a:solidFill>
                  <a:srgbClr val="E8EAED"/>
                </a:solidFill>
                <a:latin typeface="맑은 고딕"/>
              </a:rPr>
              <a:t>Discord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❌  </a:t>
            </a:r>
            <a:r>
              <a:rPr sz="1400">
                <a:solidFill>
                  <a:srgbClr val="E8EAED"/>
                </a:solidFill>
                <a:latin typeface="맑은 고딕"/>
              </a:rPr>
              <a:t>NVIDIA GeForce Experience / Share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❌  </a:t>
            </a:r>
            <a:r>
              <a:rPr sz="1400">
                <a:solidFill>
                  <a:srgbClr val="E8EAED"/>
                </a:solidFill>
                <a:latin typeface="맑은 고딕"/>
              </a:rPr>
              <a:t>Razer Synapse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❌  </a:t>
            </a:r>
            <a:r>
              <a:rPr sz="1400">
                <a:solidFill>
                  <a:srgbClr val="E8EAED"/>
                </a:solidFill>
                <a:latin typeface="맑은 고딕"/>
              </a:rPr>
              <a:t>Chrome 다른 탭들 (CleanMesh만 남김)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✓  </a:t>
            </a:r>
            <a:r>
              <a:rPr sz="1400">
                <a:solidFill>
                  <a:srgbClr val="E8EAED"/>
                </a:solidFill>
                <a:latin typeface="맑은 고딕"/>
              </a:rPr>
              <a:t>권장: 생성 → ✅ 완료 → Blender 켜기 → Blender로 보내기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12/21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12. 자주 발생하는 문제 Top 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증상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CUDA out of memory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다른 GPU 앱 점유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Blender/OBS/Teams 닫기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바닥/벽이 같이 솟음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rembg 한계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SAM2 클릭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같은 사진인데 결과 다름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디퓨전 비결정성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--deterministic (8GB OOM 위험)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TRELLIS import error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torch 2.4 깨짐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_install_sam2_safe.sh 재실행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Blender 상태 빨강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MCP 미실행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MCP &gt; Start Server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13/21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13. REST API 핵심 엔드포인트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http://localhost:8100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sz="1000">
                <a:solidFill>
                  <a:srgbClr val="B4C8FF"/>
                </a:solidFill>
                <a:latin typeface="Consolas"/>
              </a:rPr>
              <a:t>GET  /api/health                  → 컴포넌트 상태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GET  /api/health/blender          → MCP 연결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POST /api/generate                → 이미지 1장 → 3D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POST /api/generate-multi          → 이미지 N장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POST /api/generate-procedural     → 템플릿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POST /api/generate-segmented      → SAM2 컷아웃으로 3D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body: color_mode, color_k, color_smooth_iters, ...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POST /api/segment-upload          → 이미지 → session_id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POST /api/segment                 → 클릭 → 마스크 PNG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GET  /api/segment/{sid}/{file}    → 세션 파일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GET  /api/status/{job_id}         → 폴링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GET  /api/download/{job_id}       → GLB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GET  /api/contact-sheet/{job_id}  → 6방향 합성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POST /api/import-to-blender       → Blender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14/21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14. 디렉토리 구조 (v1.2)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D:\GoogleDrive\Image_to_3D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sz="1000">
                <a:solidFill>
                  <a:srgbClr val="B4C8FF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D:\GoogleDrive\Image_to_3D\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├── CleanMesh_기술문서.docx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├── CleanMesh_매뉴얼.pptx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├── build_docs.py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├── README.md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│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├── 실행\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│   ├── CleanMeshStudio.exe       ← PyInstaller .exe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│   ├── CleanMesh_Start.bat / Stop.bat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│   ├── build_launcher.bat / migrate_pack.bat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│   └── *.lnk (단축아이콘 사본)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│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└── 작업리소스\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├── cleanmesh_launcher.py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├── requirements.txt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├── cleanmesh\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│   ├── router.py / pipeline.py / segment.py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│   ├── generators\  (procedural / triposr / trellis)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│   └── blender\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│       (cleanup / render / export / color_smooth / color_split)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├── server\  (main.py + static/index.html)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└── trellis_wsl\</a:t>
            </a:r>
          </a:p>
          <a:p>
            <a:r>
              <a:rPr sz="1000">
                <a:solidFill>
                  <a:srgbClr val="B4C8FF"/>
                </a:solidFill>
                <a:latin typeface="Consolas"/>
              </a:rPr>
              <a:t>        (_run_trellis.py / _sam2_segment.py / _install_*.sh)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15/21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15. 다른 PC로 이전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001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모드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번들 크기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셋업 시간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추천 상황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A: 코드만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~10 MB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3~4시간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인터넷 빠름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B: 코드 + WSL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~30 GB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30분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★ 추천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C: 풀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~50 GB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15분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동일 GPU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8CFF"/>
                </a:solidFill>
                <a:latin typeface="맑은 고딕"/>
              </a:rPr>
              <a:t>✓  </a:t>
            </a:r>
            <a:r>
              <a:rPr sz="1400">
                <a:solidFill>
                  <a:srgbClr val="E8EAED"/>
                </a:solidFill>
                <a:latin typeface="맑은 고딕"/>
              </a:rPr>
              <a:t>번들과 함께 setup_on_new_pc.bat 자동 생성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✓  </a:t>
            </a:r>
            <a:r>
              <a:rPr sz="1400">
                <a:solidFill>
                  <a:srgbClr val="E8EAED"/>
                </a:solidFill>
                <a:latin typeface="맑은 고딕"/>
              </a:rPr>
              <a:t>robocopy + wsl --import + .exe 재빌드까지 자동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16/21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16. Deterministic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재현성 vs VRAM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옵션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정점 변동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시간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안정성 (8GB GPU)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default OFF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±15%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60초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✅ 안정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--deterministic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±0.01%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70초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❌ mesh extraction OOM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8CFF"/>
                </a:solidFill>
                <a:latin typeface="맑은 고딕"/>
              </a:rPr>
              <a:t>→  </a:t>
            </a:r>
            <a:r>
              <a:rPr sz="1400">
                <a:solidFill>
                  <a:srgbClr val="E8EAED"/>
                </a:solidFill>
                <a:latin typeface="맑은 고딕"/>
              </a:rPr>
              <a:t>TRELLIS는 디퓨전 → 같은 seed로도 매번 다른 결과 (본질)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→  </a:t>
            </a:r>
            <a:r>
              <a:rPr sz="1400">
                <a:solidFill>
                  <a:srgbClr val="E8EAED"/>
                </a:solidFill>
                <a:latin typeface="맑은 고딕"/>
              </a:rPr>
              <a:t>cuDNN deterministic + 시드 고정으로 byte-near-identical 가능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→  </a:t>
            </a:r>
            <a:r>
              <a:rPr sz="1400">
                <a:solidFill>
                  <a:srgbClr val="E8EAED"/>
                </a:solidFill>
                <a:latin typeface="맑은 고딕"/>
              </a:rPr>
              <a:t>하지만 8 GB GPU 에선 추가 메모리 비용으로 OOM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→  </a:t>
            </a:r>
            <a:r>
              <a:rPr sz="1400">
                <a:solidFill>
                  <a:srgbClr val="E8EAED"/>
                </a:solidFill>
                <a:latin typeface="맑은 고딕"/>
              </a:rPr>
              <a:t>16+ GB GPU 사용자만 활성화 권장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17/21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17. 향후 확장 후보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8CFF"/>
                </a:solidFill>
                <a:latin typeface="맑은 고딕"/>
              </a:rPr>
              <a:t>□  </a:t>
            </a:r>
            <a:r>
              <a:rPr sz="1400">
                <a:solidFill>
                  <a:srgbClr val="E8EAED"/>
                </a:solidFill>
                <a:latin typeface="맑은 고딕"/>
              </a:rPr>
              <a:t>Grounded-SAM: "빨간 박스만" 텍스트 → 자동 마스크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□  </a:t>
            </a:r>
            <a:r>
              <a:rPr sz="1400">
                <a:solidFill>
                  <a:srgbClr val="E8EAED"/>
                </a:solidFill>
                <a:latin typeface="맑은 고딕"/>
              </a:rPr>
              <a:t>멀티뷰 SAM2 일괄: 한 클릭이 모든 뷰에 자동 매핑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□  </a:t>
            </a:r>
            <a:r>
              <a:rPr sz="1400">
                <a:solidFill>
                  <a:srgbClr val="E8EAED"/>
                </a:solidFill>
                <a:latin typeface="맑은 고딕"/>
              </a:rPr>
              <a:t>Camera projection 텍스처링: 라벨/디테일 보존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□  </a:t>
            </a:r>
            <a:r>
              <a:rPr sz="1400">
                <a:solidFill>
                  <a:srgbClr val="E8EAED"/>
                </a:solidFill>
                <a:latin typeface="맑은 고딕"/>
              </a:rPr>
              <a:t>잡 영속화 (SQLite/Redis)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□  </a:t>
            </a:r>
            <a:r>
              <a:rPr sz="1400">
                <a:solidFill>
                  <a:srgbClr val="E8EAED"/>
                </a:solidFill>
                <a:latin typeface="맑은 고딕"/>
              </a:rPr>
              <a:t>LOD 자동 생성 (target_polys 여러 단계 동시)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□  </a:t>
            </a:r>
            <a:r>
              <a:rPr sz="1400">
                <a:solidFill>
                  <a:srgbClr val="E8EAED"/>
                </a:solidFill>
                <a:latin typeface="맑은 고딕"/>
              </a:rPr>
              <a:t>Web UI 모바일 대응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□  </a:t>
            </a:r>
            <a:r>
              <a:rPr sz="1400">
                <a:solidFill>
                  <a:srgbClr val="E8EAED"/>
                </a:solidFill>
                <a:latin typeface="맑은 고딕"/>
              </a:rPr>
              <a:t>VRAM 자동 보호: 잡 시작 전 다른 앱 자동 종료/경고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18/21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18. 디지털 트윈 표준 워크플로우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현장 사진 → DT 자산 1분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8CFF"/>
                </a:solidFill>
                <a:latin typeface="맑은 고딕"/>
              </a:rPr>
              <a:t>1  </a:t>
            </a:r>
            <a:r>
              <a:rPr sz="1400">
                <a:solidFill>
                  <a:srgbClr val="E8EAED"/>
                </a:solidFill>
                <a:latin typeface="맑은 고딕"/>
              </a:rPr>
              <a:t>현장 설비 사진 1장 촬영 (자산 식별성 가장 높은 각도)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2  </a:t>
            </a:r>
            <a:r>
              <a:rPr sz="1400">
                <a:solidFill>
                  <a:srgbClr val="E8EAED"/>
                </a:solidFill>
                <a:latin typeface="맑은 고딕"/>
              </a:rPr>
              <a:t>🎯 SAM2 체크 → 주체 클릭 → ✓ 마스크 생성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3  </a:t>
            </a:r>
            <a:r>
              <a:rPr sz="1400">
                <a:solidFill>
                  <a:srgbClr val="E8EAED"/>
                </a:solidFill>
                <a:latin typeface="맑은 고딕"/>
              </a:rPr>
              <a:t>색상: vertex / 잡티 제거: 약 / 익스포트: USD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4  </a:t>
            </a:r>
            <a:r>
              <a:rPr sz="1400">
                <a:solidFill>
                  <a:srgbClr val="E8EAED"/>
                </a:solidFill>
                <a:latin typeface="맑은 고딕"/>
              </a:rPr>
              <a:t>메타데이터 입력 — 카테고리, 실치수(mm), 제조사, 시리얼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5  </a:t>
            </a:r>
            <a:r>
              <a:rPr sz="1400">
                <a:solidFill>
                  <a:srgbClr val="E8EAED"/>
                </a:solidFill>
                <a:latin typeface="맑은 고딕"/>
              </a:rPr>
              <a:t>☑ SimReady 자산으로 출력 체크 (USDPhysics 자동 주입)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6  </a:t>
            </a:r>
            <a:r>
              <a:rPr sz="1400">
                <a:solidFill>
                  <a:srgbClr val="E8EAED"/>
                </a:solidFill>
                <a:latin typeface="맑은 고딕"/>
              </a:rPr>
              <a:t>▶ Generate → 약 70초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7  </a:t>
            </a:r>
            <a:r>
              <a:rPr sz="1400">
                <a:solidFill>
                  <a:srgbClr val="E8EAED"/>
                </a:solidFill>
                <a:latin typeface="맑은 고딕"/>
              </a:rPr>
              <a:t>Omniverse / Twinmotion / BIM 협업툴에서 import → 시뮬레이션 즉시 가능</a:t>
            </a:r>
          </a:p>
          <a:p>
            <a:r>
              <a:rPr sz="1400" b="1">
                <a:solidFill>
                  <a:srgbClr val="4F8CFF"/>
                </a:solidFill>
                <a:latin typeface="맑은 고딕"/>
              </a:rPr>
              <a:t>→  </a:t>
            </a:r>
            <a:r>
              <a:rPr sz="1400">
                <a:solidFill>
                  <a:srgbClr val="E8EAED"/>
                </a:solidFill>
                <a:latin typeface="맑은 고딕"/>
              </a:rPr>
              <a:t>재현성: --deterministic 켜면 같은 사진 → 같은 모델 (16GB+ GPU)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19/21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19. SimReady USD 출력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254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맑은 고딕"/>
              </a:rPr>
              <a:t>NVIDIA Omniverse 호환 디지털 트윈 자산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일반 USD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SimReady USD (이 시스템)</a:t>
                      </a:r>
                    </a:p>
                  </a:txBody>
                  <a:tcPr>
                    <a:solidFill>
                      <a:srgbClr val="4F8C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메시 + 정점 색상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upAxis=Y / metersPerUnit=1.0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종종 누락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✅ 강제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Kind=component + assetInfo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✗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USDPhysics Collider (convex hull)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✗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✅ 모든 메시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USDPhysics Mass (카테고리별 density)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✗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✅ steel/wood/Al/box 자동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USDPhysics Material (마찰·반발)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✗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✅ 기본값 주입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semanticLabel + 실측 mm 스케일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✗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AED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>
                    <a:solidFill>
                      <a:srgbClr val="24272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4F8CFF"/>
                </a:solidFill>
                <a:latin typeface="맑은 고딕"/>
              </a:rPr>
              <a:t>→  </a:t>
            </a:r>
            <a:r>
              <a:rPr sz="1300">
                <a:solidFill>
                  <a:srgbClr val="E8EAED"/>
                </a:solidFill>
                <a:latin typeface="맑은 고딕"/>
              </a:rPr>
              <a:t>Omniverse Kit 설치 불필요 — pxr (Blender 5.x 번들 USD Python) 만 사용</a:t>
            </a:r>
          </a:p>
          <a:p>
            <a:r>
              <a:rPr sz="1300" b="1">
                <a:solidFill>
                  <a:srgbClr val="4F8CFF"/>
                </a:solidFill>
                <a:latin typeface="맑은 고딕"/>
              </a:rPr>
              <a:t>→  </a:t>
            </a:r>
            <a:r>
              <a:rPr sz="1300">
                <a:solidFill>
                  <a:srgbClr val="E8EAED"/>
                </a:solidFill>
                <a:latin typeface="맑은 고딕"/>
              </a:rPr>
              <a:t>옵션: aif-pipeline 설치된 환경에선 NVIDIA 공식 validator 자동 호출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20/21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4C759"/>
                </a:solidFill>
                <a:latin typeface="맑은 고딕"/>
              </a:rPr>
              <a:t>✓ 한 줄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현장 설비 사진 1장으로, 60초 안에 디지털 트윈에 배치 가능한 3D 자산이 나옵니다.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맑은 고딕"/>
              </a:rPr>
              <a:t>vertex color + 약한 잡티 제거 + USD 익스포트 = DT 표준 출력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303520"/>
            <a:ext cx="365760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0A6"/>
                </a:solidFill>
                <a:latin typeface="맑은 고딕"/>
              </a:rPr>
              <a:t>자세한 내용 → CleanMesh_기술문서.docx (v1.2)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A0A6"/>
                </a:solidFill>
                <a:latin typeface="맑은 고딕"/>
              </a:rPr>
              <a:t>CleanMesh Studio v1.2 (Digital Twin)  ·  21/21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